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72" r:id="rId10"/>
    <p:sldId id="263" r:id="rId11"/>
    <p:sldId id="264" r:id="rId12"/>
    <p:sldId id="265" r:id="rId13"/>
    <p:sldId id="268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60"/>
  </p:normalViewPr>
  <p:slideViewPr>
    <p:cSldViewPr snapToGrid="0">
      <p:cViewPr varScale="1">
        <p:scale>
          <a:sx n="78" d="100"/>
          <a:sy n="78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priser99" TargetMode="External"/><Relationship Id="rId2" Type="http://schemas.openxmlformats.org/officeDocument/2006/relationships/hyperlink" Target="https://github.com/pushprajsingha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devesh-talreja" TargetMode="External"/><Relationship Id="rId4" Type="http://schemas.openxmlformats.org/officeDocument/2006/relationships/hyperlink" Target="https://github.com/Vinaypatel24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221" y="1133061"/>
            <a:ext cx="8915399" cy="251155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 AI  AUTO-FILL  ASSISTANT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453" y="3516428"/>
            <a:ext cx="9079464" cy="3031435"/>
          </a:xfrm>
        </p:spPr>
        <p:txBody>
          <a:bodyPr>
            <a:norm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Mayank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Bhatt	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15185" y="4834711"/>
            <a:ext cx="42921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Pushpraj Singhal (0827IT231107)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Samyak Choudhary (0827IT231117)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Vinay Kumar Patel (0827IT231145)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Devesh Talreja (0827IT243D03)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9"/>
            <a:ext cx="8915400" cy="51852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Introduction</a:t>
            </a:r>
          </a:p>
          <a:p>
            <a:pPr marL="457200" lvl="1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1.1 Problem Context(Real world Scenario)</a:t>
            </a:r>
          </a:p>
          <a:p>
            <a:pPr marL="457200" lvl="1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1.2 Motivation &amp; Need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Literature Survey</a:t>
            </a:r>
          </a:p>
          <a:p>
            <a:pPr marL="400050" lvl="1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 2.1Research paper</a:t>
            </a:r>
          </a:p>
          <a:p>
            <a:pPr marL="400050" lvl="1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 2.2 Problem Statement</a:t>
            </a:r>
            <a:endParaRPr lang="en-IN" sz="16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Proposed Solution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Contributions</a:t>
            </a:r>
            <a:endParaRPr lang="en-IN" sz="16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Theoretical Analysis</a:t>
            </a:r>
          </a:p>
          <a:p>
            <a:pPr marL="457200" lvl="1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6.1 Block Diagram</a:t>
            </a:r>
          </a:p>
          <a:p>
            <a:pPr marL="457200" lvl="1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6.2 Hardware / Software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Applications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052" y="316759"/>
            <a:ext cx="2920180" cy="930602"/>
          </a:xfrm>
        </p:spPr>
        <p:txBody>
          <a:bodyPr>
            <a:normAutofit fontScale="90000"/>
          </a:bodyPr>
          <a:lstStyle/>
          <a:p>
            <a:r>
              <a:rPr lang="en-IN" dirty="0"/>
              <a:t>1. Introduction</a:t>
            </a:r>
            <a:br>
              <a:rPr lang="en-IN" dirty="0"/>
            </a:br>
            <a:br>
              <a:rPr lang="en-IN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9589" y="1247361"/>
            <a:ext cx="8915400" cy="43632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700" dirty="0">
                <a:solidFill>
                  <a:schemeClr val="tx1"/>
                </a:solidFill>
              </a:rPr>
              <a:t>In today's digital world, users interact with many online platforms daily.</a:t>
            </a:r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Most of these platforms require users to fill forms with the same personal information repeatedly.</a:t>
            </a:r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This repetitive process wastes time and reduces productivity.</a:t>
            </a:r>
          </a:p>
          <a:p>
            <a:pPr marL="0" indent="0">
              <a:buNone/>
            </a:pPr>
            <a:r>
              <a:rPr lang="en-IN" sz="2700" b="1" dirty="0"/>
              <a:t>Real-World Scenarios</a:t>
            </a:r>
          </a:p>
          <a:p>
            <a:pPr marL="0" indent="0">
              <a:buNone/>
            </a:pPr>
            <a:r>
              <a:rPr lang="en-US" sz="2700" dirty="0"/>
              <a:t>• Job Seekers: ~15 hours/week spent filling applications repeatedly</a:t>
            </a:r>
            <a:br>
              <a:rPr lang="en-US" sz="2700" dirty="0"/>
            </a:br>
            <a:r>
              <a:rPr lang="en-US" sz="2700" dirty="0"/>
              <a:t>• Doctors: Manual patient forms lead to errors and burnout</a:t>
            </a:r>
            <a:br>
              <a:rPr lang="en-US" sz="2700" dirty="0"/>
            </a:br>
            <a:r>
              <a:rPr lang="en-US" sz="2700" dirty="0"/>
              <a:t>• Students: Re-enter personal data for visas, registrations, banking</a:t>
            </a:r>
          </a:p>
          <a:p>
            <a:r>
              <a:rPr lang="en-US" sz="2700" dirty="0"/>
              <a:t> Global Impact</a:t>
            </a:r>
            <a:br>
              <a:rPr lang="en-US" sz="2700" dirty="0"/>
            </a:br>
            <a:r>
              <a:rPr lang="en-US" sz="2700" dirty="0"/>
              <a:t>• Manual form filling wastes 47 billion hours every year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942353" y="1765701"/>
            <a:ext cx="7869082" cy="2044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6174557" cy="881961"/>
          </a:xfrm>
        </p:spPr>
        <p:txBody>
          <a:bodyPr/>
          <a:lstStyle/>
          <a:p>
            <a:r>
              <a:rPr lang="en-IN" dirty="0"/>
              <a:t>Why Current Solutions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1585596"/>
            <a:ext cx="8915400" cy="44132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700" dirty="0"/>
              <a:t>🔐 </a:t>
            </a:r>
            <a:r>
              <a:rPr lang="en-IN" sz="3700" b="1" dirty="0"/>
              <a:t>Password Managers</a:t>
            </a:r>
            <a:br>
              <a:rPr lang="en-IN" sz="3700" dirty="0"/>
            </a:br>
            <a:r>
              <a:rPr lang="en-IN" sz="3700" dirty="0"/>
              <a:t>• Fill login fields only</a:t>
            </a:r>
            <a:br>
              <a:rPr lang="en-IN" sz="3700" dirty="0"/>
            </a:br>
            <a:r>
              <a:rPr lang="en-IN" sz="3700" dirty="0"/>
              <a:t>• Cloud storage raises privacy concerns</a:t>
            </a:r>
          </a:p>
          <a:p>
            <a:pPr marL="0" indent="0">
              <a:buNone/>
            </a:pPr>
            <a:r>
              <a:rPr lang="en-IN" sz="3700" dirty="0"/>
              <a:t>📱 </a:t>
            </a:r>
            <a:r>
              <a:rPr lang="en-IN" sz="3700" b="1" dirty="0"/>
              <a:t>Google Autofill</a:t>
            </a:r>
            <a:br>
              <a:rPr lang="en-IN" sz="3700" dirty="0"/>
            </a:br>
            <a:r>
              <a:rPr lang="en-IN" sz="3700" dirty="0"/>
              <a:t>• Around 23% app incompatibility</a:t>
            </a:r>
          </a:p>
          <a:p>
            <a:pPr marL="0" indent="0">
              <a:buNone/>
            </a:pPr>
            <a:r>
              <a:rPr lang="en-IN" sz="3700" dirty="0"/>
              <a:t>🌐 </a:t>
            </a:r>
            <a:r>
              <a:rPr lang="en-IN" sz="3700" b="1" dirty="0"/>
              <a:t>Browser Extensions</a:t>
            </a:r>
            <a:br>
              <a:rPr lang="en-IN" sz="3700" dirty="0"/>
            </a:br>
            <a:r>
              <a:rPr lang="en-IN" sz="3700" dirty="0"/>
              <a:t>• Work only in browsers</a:t>
            </a:r>
            <a:br>
              <a:rPr lang="en-IN" sz="3700" dirty="0"/>
            </a:br>
            <a:r>
              <a:rPr lang="en-IN" sz="3700" dirty="0"/>
              <a:t>• Fail inside native mobile applications</a:t>
            </a:r>
          </a:p>
          <a:p>
            <a:pPr marL="0" indent="0">
              <a:buNone/>
            </a:pPr>
            <a:endParaRPr lang="en-IN" sz="3700" dirty="0"/>
          </a:p>
          <a:p>
            <a:pPr marL="0" indent="0">
              <a:buNone/>
            </a:pPr>
            <a:r>
              <a:rPr lang="en-US" sz="3700" b="1" dirty="0"/>
              <a:t>🚨 The Core Gap</a:t>
            </a:r>
          </a:p>
          <a:p>
            <a:pPr marL="0" indent="0">
              <a:buNone/>
            </a:pPr>
            <a:r>
              <a:rPr lang="en-US" sz="3700" dirty="0"/>
              <a:t>   No existing solution provides all three:</a:t>
            </a:r>
          </a:p>
          <a:p>
            <a:pPr marL="0" indent="0">
              <a:buNone/>
            </a:pPr>
            <a:r>
              <a:rPr lang="en-US" sz="3700" dirty="0"/>
              <a:t>• Universal compatibility across applications</a:t>
            </a:r>
            <a:br>
              <a:rPr lang="en-US" sz="3700" dirty="0"/>
            </a:br>
            <a:r>
              <a:rPr lang="en-US" sz="3700" dirty="0"/>
              <a:t>• Intelligent field recognition using AI</a:t>
            </a:r>
            <a:br>
              <a:rPr lang="en-US" sz="3700" dirty="0"/>
            </a:br>
            <a:r>
              <a:rPr lang="en-US" sz="3700" dirty="0"/>
              <a:t>• Complete privacy through on-device processing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60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029" y="255638"/>
            <a:ext cx="4378748" cy="731913"/>
          </a:xfrm>
        </p:spPr>
        <p:txBody>
          <a:bodyPr/>
          <a:lstStyle/>
          <a:p>
            <a:r>
              <a:rPr lang="en-IN" dirty="0"/>
              <a:t>2. Literature Survey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813023"/>
              </p:ext>
            </p:extLst>
          </p:nvPr>
        </p:nvGraphicFramePr>
        <p:xfrm>
          <a:off x="1572080" y="1158239"/>
          <a:ext cx="9918173" cy="5062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392">
                  <a:extLst>
                    <a:ext uri="{9D8B030D-6E8A-4147-A177-3AD203B41FA5}">
                      <a16:colId xmlns:a16="http://schemas.microsoft.com/office/drawing/2014/main" val="3945689903"/>
                    </a:ext>
                  </a:extLst>
                </a:gridCol>
                <a:gridCol w="2442512">
                  <a:extLst>
                    <a:ext uri="{9D8B030D-6E8A-4147-A177-3AD203B41FA5}">
                      <a16:colId xmlns:a16="http://schemas.microsoft.com/office/drawing/2014/main" val="4162049018"/>
                    </a:ext>
                  </a:extLst>
                </a:gridCol>
                <a:gridCol w="3012648">
                  <a:extLst>
                    <a:ext uri="{9D8B030D-6E8A-4147-A177-3AD203B41FA5}">
                      <a16:colId xmlns:a16="http://schemas.microsoft.com/office/drawing/2014/main" val="3569958526"/>
                    </a:ext>
                  </a:extLst>
                </a:gridCol>
                <a:gridCol w="3401621">
                  <a:extLst>
                    <a:ext uri="{9D8B030D-6E8A-4147-A177-3AD203B41FA5}">
                      <a16:colId xmlns:a16="http://schemas.microsoft.com/office/drawing/2014/main" val="757383840"/>
                    </a:ext>
                  </a:extLst>
                </a:gridCol>
              </a:tblGrid>
              <a:tr h="31564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Authors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Title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Key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Finding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580406"/>
                  </a:ext>
                </a:extLst>
              </a:tr>
              <a:tr h="12792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 et al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Understanding Mobile GUI: From Pixel-Words to Screen Sentences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a pixel-based UI understanding framework that extracts text and visual components from screenshots to understand mobile interfaces for automation tasks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924773"/>
                  </a:ext>
                </a:extLst>
              </a:tr>
              <a:tr h="677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Chen et al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for Mobile Form Field Classification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94% accuracy in field prediction using CNNs on UI hierarchies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5774398"/>
                  </a:ext>
                </a:extLst>
              </a:tr>
              <a:tr h="1172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Song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VisionTasker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Mobile Task Automation Using Vision-Based UI Understanding</a:t>
                      </a:r>
                    </a:p>
                    <a:p>
                      <a:pPr algn="ctr"/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framework that combines UI vision analysis and AI planning to automate tasks on mobile apps by interpreting screen content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8968342"/>
                  </a:ext>
                </a:extLst>
              </a:tr>
              <a:tr h="959425"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Rodriguez &amp;Kumar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Accessibility-Based Text Injection in Android Applications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bypassing from restrictions via accessibility APIs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1516652"/>
                  </a:ext>
                </a:extLst>
              </a:tr>
              <a:tr h="657799">
                <a:tc>
                  <a:txBody>
                    <a:bodyPr/>
                    <a:lstStyle/>
                    <a:p>
                      <a:pPr algn="ctr"/>
                      <a:endParaRPr lang="en-IN" sz="12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Patel et al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On-Device NLP for Context-Aware Form Filling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Lightweight BERT models for field understanding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86839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6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6" y="624110"/>
            <a:ext cx="5502204" cy="976090"/>
          </a:xfrm>
        </p:spPr>
        <p:txBody>
          <a:bodyPr>
            <a:normAutofit/>
          </a:bodyPr>
          <a:lstStyle/>
          <a:p>
            <a:r>
              <a:rPr lang="en-US" sz="3200" dirty="0"/>
              <a:t>2.2 </a:t>
            </a:r>
            <a:r>
              <a:rPr lang="en-US" sz="3600" dirty="0"/>
              <a:t>Problem Statement</a:t>
            </a:r>
            <a:endParaRPr lang="en-IN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113380"/>
              </p:ext>
            </p:extLst>
          </p:nvPr>
        </p:nvGraphicFramePr>
        <p:xfrm>
          <a:off x="2589213" y="2133600"/>
          <a:ext cx="8915400" cy="3877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1895739595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3636603553"/>
                    </a:ext>
                  </a:extLst>
                </a:gridCol>
              </a:tblGrid>
              <a:tr h="380939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521758"/>
                  </a:ext>
                </a:extLst>
              </a:tr>
              <a:tr h="65751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Compatibility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≥98% of Android apps (including restricted apps)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203722"/>
                  </a:ext>
                </a:extLst>
              </a:tr>
              <a:tr h="38093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Recognition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≥95% across diverse form layouts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874760"/>
                  </a:ext>
                </a:extLst>
              </a:tr>
              <a:tr h="38093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 Field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50+ form field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838111"/>
                  </a:ext>
                </a:extLst>
              </a:tr>
              <a:tr h="38093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 Filling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≤2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347853"/>
                  </a:ext>
                </a:extLst>
              </a:tr>
              <a:tr h="657513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on-device processing (no cloud transmission)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490280"/>
                  </a:ext>
                </a:extLst>
              </a:tr>
              <a:tr h="657513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≥90% extraction from physical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17454"/>
                  </a:ext>
                </a:extLst>
              </a:tr>
              <a:tr h="38093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≤3% increase during active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36723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89213" y="1438835"/>
            <a:ext cx="7321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privacy-first Android autofill system achieving: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455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952" y="256985"/>
            <a:ext cx="6658652" cy="730145"/>
          </a:xfrm>
        </p:spPr>
        <p:txBody>
          <a:bodyPr/>
          <a:lstStyle/>
          <a:p>
            <a:r>
              <a:rPr lang="en-IN" dirty="0"/>
              <a:t>3. Proposed Solution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687486" y="1134613"/>
            <a:ext cx="52697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 – Profile Creation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user profiles (Personal / Work / Student)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entered manually or via OCR scan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⬇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 – Screen Analysis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Accessibility service detects form fields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 model performs field classification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⬇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– Smart Profile Selection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context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Automatically selects correct profile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⬇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4 – Dual-Mode Filling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 Mode: Android Autofill framework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Force-Fill Mode: AI bubble for restricted apps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⬇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Complete form filling in &lt; 2 seconds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/>
            </a:b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236" y="750867"/>
            <a:ext cx="2706662" cy="667123"/>
          </a:xfrm>
        </p:spPr>
        <p:txBody>
          <a:bodyPr>
            <a:normAutofit fontScale="90000"/>
          </a:bodyPr>
          <a:lstStyle/>
          <a:p>
            <a:r>
              <a:rPr lang="en-IN" dirty="0"/>
              <a:t>4. Objectives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419A2-D870-CCA2-73A1-F4CADD3BA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995949"/>
            <a:ext cx="8915400" cy="3777622"/>
          </a:xfrm>
        </p:spPr>
        <p:txBody>
          <a:bodyPr/>
          <a:lstStyle/>
          <a:p>
            <a:pPr lvl="0"/>
            <a:r>
              <a:rPr lang="en-IN" dirty="0"/>
              <a:t>Build a smart autofill system that can automatically fill forms in most Android apps (including restricted apps) with high compatibility and fast performance.</a:t>
            </a:r>
          </a:p>
          <a:p>
            <a:pPr lvl="0"/>
            <a:r>
              <a:rPr lang="en-IN" dirty="0"/>
              <a:t>Develop a lightweight machine learning model that can identify different types of form fields (50+ types) with high accuracy to improve automatic form filling.</a:t>
            </a:r>
          </a:p>
          <a:p>
            <a:pPr lvl="0"/>
            <a:r>
              <a:rPr lang="en-IN" dirty="0"/>
              <a:t>Ensure secure user data management by using encrypted storage, biometric authentication, and an OCR scanner to extract information from documents like ID cards and business cards.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5004663" cy="801278"/>
          </a:xfrm>
        </p:spPr>
        <p:txBody>
          <a:bodyPr>
            <a:normAutofit/>
          </a:bodyPr>
          <a:lstStyle/>
          <a:p>
            <a:r>
              <a:rPr lang="en-US" dirty="0"/>
              <a:t>5. Contributions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460812" y="1613647"/>
            <a:ext cx="746311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Contributions: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Filling Architecture: First dual-mode system (Standard + Force-Fill)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ML Model: 12MB size, 50ms inference, 95%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Selection: Auto profile switching based on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Architecture: Zero data transmission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Contributions: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study across 200+ Android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of 10,000+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fields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Contributions: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Zero-learning floating bubble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privacy controls</a:t>
            </a:r>
          </a:p>
          <a:p>
            <a:r>
              <a:rPr lang="en-IN" sz="2000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363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318" y="191607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6. Theoretical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2319" y="853224"/>
            <a:ext cx="5362482" cy="585005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3800" b="1" dirty="0">
                <a:solidFill>
                  <a:schemeClr val="tx1"/>
                </a:solidFill>
              </a:rPr>
              <a:t>6.1 Block Diagram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    </a:t>
            </a:r>
          </a:p>
          <a:p>
            <a:pPr marL="0" indent="0">
              <a:buNone/>
            </a:pPr>
            <a:r>
              <a:rPr lang="en-IN" dirty="0"/>
              <a:t>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4800" b="1" dirty="0"/>
              <a:t>          UNIVERSAL  AI  AUTO-FILL  ASSISTANT</a:t>
            </a:r>
          </a:p>
          <a:p>
            <a:pPr marL="0" indent="0">
              <a:buNone/>
            </a:pPr>
            <a:r>
              <a:rPr lang="en-IN" dirty="0"/>
              <a:t>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3" b="2023"/>
          <a:stretch>
            <a:fillRect/>
          </a:stretch>
        </p:blipFill>
        <p:spPr>
          <a:xfrm>
            <a:off x="2917405" y="1197284"/>
            <a:ext cx="4853479" cy="4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4205" y="886922"/>
            <a:ext cx="8915400" cy="50163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4000" dirty="0">
                <a:solidFill>
                  <a:schemeClr val="tx1"/>
                </a:solidFill>
              </a:rPr>
              <a:t>6.2 Hardware / Software Requirements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Software Requirements:</a:t>
            </a:r>
          </a:p>
          <a:p>
            <a:r>
              <a:rPr lang="en-IN" dirty="0" err="1">
                <a:solidFill>
                  <a:schemeClr val="tx1"/>
                </a:solidFill>
              </a:rPr>
              <a:t>Kotlin</a:t>
            </a:r>
            <a:r>
              <a:rPr lang="en-IN" dirty="0">
                <a:solidFill>
                  <a:schemeClr val="tx1"/>
                </a:solidFill>
              </a:rPr>
              <a:t>, Jetpack Compose</a:t>
            </a:r>
          </a:p>
          <a:p>
            <a:r>
              <a:rPr lang="en-IN" dirty="0">
                <a:solidFill>
                  <a:schemeClr val="tx1"/>
                </a:solidFill>
              </a:rPr>
              <a:t>Room DB + </a:t>
            </a:r>
            <a:r>
              <a:rPr lang="en-IN" dirty="0" err="1">
                <a:solidFill>
                  <a:schemeClr val="tx1"/>
                </a:solidFill>
              </a:rPr>
              <a:t>SQLCipher</a:t>
            </a:r>
            <a:r>
              <a:rPr lang="en-IN" dirty="0">
                <a:solidFill>
                  <a:schemeClr val="tx1"/>
                </a:solidFill>
              </a:rPr>
              <a:t> (Encryption)</a:t>
            </a:r>
          </a:p>
          <a:p>
            <a:r>
              <a:rPr lang="en-IN" dirty="0">
                <a:solidFill>
                  <a:schemeClr val="tx1"/>
                </a:solidFill>
              </a:rPr>
              <a:t>Android </a:t>
            </a:r>
            <a:r>
              <a:rPr lang="en-IN">
                <a:solidFill>
                  <a:schemeClr val="tx1"/>
                </a:solidFill>
              </a:rPr>
              <a:t>Accessibility </a:t>
            </a:r>
          </a:p>
          <a:p>
            <a:r>
              <a:rPr lang="en-IN">
                <a:solidFill>
                  <a:schemeClr val="tx1"/>
                </a:solidFill>
              </a:rPr>
              <a:t>Android </a:t>
            </a:r>
            <a:r>
              <a:rPr lang="en-IN" dirty="0">
                <a:solidFill>
                  <a:schemeClr val="tx1"/>
                </a:solidFill>
              </a:rPr>
              <a:t>8.0+ (API 26)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Hardware Requirements: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2GB RAM minimum</a:t>
            </a:r>
          </a:p>
          <a:p>
            <a:r>
              <a:rPr lang="en-IN" dirty="0">
                <a:solidFill>
                  <a:schemeClr val="tx1"/>
                </a:solidFill>
              </a:rPr>
              <a:t>50MB storage minimum</a:t>
            </a:r>
          </a:p>
          <a:p>
            <a:r>
              <a:rPr lang="en-IN" dirty="0">
                <a:solidFill>
                  <a:schemeClr val="tx1"/>
                </a:solidFill>
              </a:rPr>
              <a:t>Camera  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50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Employment:</a:t>
            </a:r>
            <a:r>
              <a:rPr lang="en-IN" dirty="0">
                <a:solidFill>
                  <a:schemeClr val="tx1"/>
                </a:solidFill>
              </a:rPr>
              <a:t> LinkedIn, </a:t>
            </a:r>
            <a:r>
              <a:rPr lang="en-IN" dirty="0" err="1">
                <a:solidFill>
                  <a:schemeClr val="tx1"/>
                </a:solidFill>
              </a:rPr>
              <a:t>Naukri</a:t>
            </a:r>
            <a:r>
              <a:rPr lang="en-IN" dirty="0">
                <a:solidFill>
                  <a:schemeClr val="tx1"/>
                </a:solidFill>
              </a:rPr>
              <a:t>, company portals</a:t>
            </a:r>
          </a:p>
          <a:p>
            <a:r>
              <a:rPr lang="en-IN" b="1" dirty="0">
                <a:solidFill>
                  <a:schemeClr val="tx1"/>
                </a:solidFill>
              </a:rPr>
              <a:t>E-commerce:</a:t>
            </a:r>
            <a:r>
              <a:rPr lang="en-IN" dirty="0">
                <a:solidFill>
                  <a:schemeClr val="tx1"/>
                </a:solidFill>
              </a:rPr>
              <a:t> Amazon, Flipkart checkout</a:t>
            </a:r>
          </a:p>
          <a:p>
            <a:r>
              <a:rPr lang="en-IN" b="1" dirty="0">
                <a:solidFill>
                  <a:schemeClr val="tx1"/>
                </a:solidFill>
              </a:rPr>
              <a:t>Healthcare:</a:t>
            </a:r>
            <a:r>
              <a:rPr lang="en-IN" dirty="0">
                <a:solidFill>
                  <a:schemeClr val="tx1"/>
                </a:solidFill>
              </a:rPr>
              <a:t> Patient registration, telemedicine</a:t>
            </a:r>
          </a:p>
          <a:p>
            <a:r>
              <a:rPr lang="en-IN" b="1" dirty="0">
                <a:solidFill>
                  <a:schemeClr val="tx1"/>
                </a:solidFill>
              </a:rPr>
              <a:t>Education:</a:t>
            </a:r>
            <a:r>
              <a:rPr lang="en-IN" dirty="0">
                <a:solidFill>
                  <a:schemeClr val="tx1"/>
                </a:solidFill>
              </a:rPr>
              <a:t> College apps, course registration</a:t>
            </a:r>
          </a:p>
          <a:p>
            <a:r>
              <a:rPr lang="en-IN" b="1" dirty="0">
                <a:solidFill>
                  <a:schemeClr val="tx1"/>
                </a:solidFill>
              </a:rPr>
              <a:t>Finance:</a:t>
            </a:r>
            <a:r>
              <a:rPr lang="en-IN" dirty="0">
                <a:solidFill>
                  <a:schemeClr val="tx1"/>
                </a:solidFill>
              </a:rPr>
              <a:t> Bank accounts, loan applications</a:t>
            </a:r>
          </a:p>
          <a:p>
            <a:r>
              <a:rPr lang="en-IN" b="1" dirty="0">
                <a:solidFill>
                  <a:schemeClr val="tx1"/>
                </a:solidFill>
              </a:rPr>
              <a:t>Government:</a:t>
            </a:r>
            <a:r>
              <a:rPr lang="en-IN" dirty="0">
                <a:solidFill>
                  <a:schemeClr val="tx1"/>
                </a:solidFill>
              </a:rPr>
              <a:t> Visa forms, tax filing</a:t>
            </a:r>
          </a:p>
          <a:p>
            <a:r>
              <a:rPr lang="en-IN" b="1" dirty="0">
                <a:solidFill>
                  <a:schemeClr val="tx1"/>
                </a:solidFill>
              </a:rPr>
              <a:t>Travel:</a:t>
            </a:r>
            <a:r>
              <a:rPr lang="en-IN" dirty="0">
                <a:solidFill>
                  <a:schemeClr val="tx1"/>
                </a:solidFill>
              </a:rPr>
              <a:t> Flight, hotel bookings</a:t>
            </a:r>
          </a:p>
          <a:p>
            <a:r>
              <a:rPr lang="en-IN" b="1" dirty="0">
                <a:solidFill>
                  <a:schemeClr val="tx1"/>
                </a:solidFill>
              </a:rPr>
              <a:t>Accessibility:</a:t>
            </a:r>
            <a:r>
              <a:rPr lang="en-IN" dirty="0">
                <a:solidFill>
                  <a:schemeClr val="tx1"/>
                </a:solidFill>
              </a:rPr>
              <a:t> Assistive tech for motor challenges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940" y="752358"/>
            <a:ext cx="3090120" cy="887599"/>
          </a:xfrm>
        </p:spPr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490" y="1639957"/>
            <a:ext cx="9892122" cy="436327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Pushpraj Singhal : </a:t>
            </a:r>
            <a:r>
              <a:rPr lang="en-IN" dirty="0">
                <a:solidFill>
                  <a:schemeClr val="tx1"/>
                </a:solidFill>
                <a:hlinkClick r:id="rId2"/>
              </a:rPr>
              <a:t>https://github.com/pushprajsinghal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Samyak Choudhary :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https://github.com/Upriser99</a:t>
            </a:r>
            <a:r>
              <a:rPr lang="en-IN" dirty="0"/>
              <a:t> 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Vinay Kumar Patel : </a:t>
            </a:r>
            <a:r>
              <a:rPr lang="en-IN" dirty="0">
                <a:solidFill>
                  <a:schemeClr val="tx1"/>
                </a:solidFill>
                <a:hlinkClick r:id="rId4"/>
              </a:rPr>
              <a:t>https://github.com/Vinaypatel24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IN" dirty="0"/>
              <a:t>Devesh Talreja : </a:t>
            </a:r>
            <a:r>
              <a:rPr lang="en-IN" dirty="0">
                <a:hlinkClick r:id="rId5"/>
              </a:rPr>
              <a:t>https://github.com/devesh-talreja</a:t>
            </a: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70" y="443927"/>
            <a:ext cx="3959457" cy="912925"/>
          </a:xfrm>
        </p:spPr>
        <p:txBody>
          <a:bodyPr/>
          <a:lstStyle/>
          <a:p>
            <a:r>
              <a:rPr lang="en-IN" dirty="0"/>
              <a:t>8. 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407373" y="1237217"/>
            <a:ext cx="937725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Chen, L., Zhang, Y., &amp; Wang, H. (2023). "Deep Learning for Mobile Form Field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Classification." Proceedings of the 2023 ACM International Joint Conference on Pervasive and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Ubiquitous Computing, 234-245.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Rodriguez, M., &amp; Kumar, A. (2022). "Accessibility-Based Text Injection in Android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Applications." IEEE Transactions on Mobile Computing, 21(4), 1289-1302.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Patel, R., Singh, P., &amp; Gupta, N. (2021). "On-Device NLP for Context-Aware Form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Filling." Conference on Neural Information Processing Systems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2021, 4567-4578.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Bernstein, M., &amp; Lieberman, H. (2018). "Human-Computer Interaction in Form Completion: A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Quantitative Analysis of Productivity Loss." MIT CSAIL Technical Report, MIT-CSAIL-TR-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2018-012.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Google Research. (2023). "ML Kit: On-Device Machine Learning for Mobile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Developers." Google AI Blog.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E571-788C-E54B-B080-EEB4F50A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1099" y="1529658"/>
            <a:ext cx="8915400" cy="37776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i="1" dirty="0"/>
              <a:t>Thank you for your time and attention.</a:t>
            </a:r>
            <a:br>
              <a:rPr lang="en-US" sz="3200" dirty="0"/>
            </a:br>
            <a:r>
              <a:rPr lang="en-US" sz="3200" i="1" dirty="0"/>
              <a:t>Questions are welcome.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3751729" y="606328"/>
            <a:ext cx="49754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05D59-04E2-F173-8396-FFBCDFE0262A}"/>
              </a:ext>
            </a:extLst>
          </p:cNvPr>
          <p:cNvSpPr/>
          <p:nvPr/>
        </p:nvSpPr>
        <p:spPr>
          <a:xfrm>
            <a:off x="5243658" y="3697958"/>
            <a:ext cx="2820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Queries ?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541</TotalTime>
  <Words>1148</Words>
  <Application>Microsoft Office PowerPoint</Application>
  <PresentationFormat>Widescreen</PresentationFormat>
  <Paragraphs>199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Wisp</vt:lpstr>
      <vt:lpstr>          Synopsis Presentation on  UNIVERSAL  AI  AUTO-FILL  ASSISTANT  </vt:lpstr>
      <vt:lpstr>Contents</vt:lpstr>
      <vt:lpstr>1. Introduction  </vt:lpstr>
      <vt:lpstr>Why Current Solutions Fail</vt:lpstr>
      <vt:lpstr>2. Literature Survey</vt:lpstr>
      <vt:lpstr>2.2 Problem Statement</vt:lpstr>
      <vt:lpstr>3. Proposed Solution Overview</vt:lpstr>
      <vt:lpstr>4. Objectives </vt:lpstr>
      <vt:lpstr>5. Contributions</vt:lpstr>
      <vt:lpstr>6. Theoretical Analysis</vt:lpstr>
      <vt:lpstr>PowerPoint Presentation</vt:lpstr>
      <vt:lpstr>7. Applications</vt:lpstr>
      <vt:lpstr>GitHub Link</vt:lpstr>
      <vt:lpstr>8.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Synopsis Presentation on  Emergency Connect</dc:title>
  <dc:creator>Deepak Singh Chouhan</dc:creator>
  <cp:lastModifiedBy>samyakchoudhary16@outlook.com</cp:lastModifiedBy>
  <cp:revision>43</cp:revision>
  <dcterms:created xsi:type="dcterms:W3CDTF">2024-09-26T07:25:32Z</dcterms:created>
  <dcterms:modified xsi:type="dcterms:W3CDTF">2026-03-12T17:27:23Z</dcterms:modified>
</cp:coreProperties>
</file>